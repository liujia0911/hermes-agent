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" cy="25603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A省市场规划及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8962E"/>
                </a:solidFill>
                <a:latin typeface="Microsoft YaHei"/>
              </a:defRPr>
            </a:pPr>
            <a:r>
              <a:t>办事处主任竞聘报告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E6C8"/>
                </a:solidFill>
                <a:latin typeface="Microsoft YaHei"/>
              </a:defRPr>
            </a:pPr>
            <a:r>
              <a:t>汇报人：您的姓名        日期：2026年6月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0C8"/>
                </a:solidFill>
                <a:latin typeface="Microsoft YaHei"/>
              </a:defRPr>
            </a:pPr>
            <a:r>
              <a:t>用控销重构价值 . 用数据驱动动销 . 用激励激活团队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645920"/>
            <a:ext cx="502920" cy="502920"/>
          </a:xfrm>
          <a:prstGeom prst="ellipse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642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B5B"/>
                </a:solidFill>
                <a:latin typeface="Microsoft YaHei"/>
              </a:defRPr>
            </a:pPr>
            <a:r>
              <a:t>市场现状与核心挑战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65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数据诊断 . 关键矛盾 . 破局思路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423160"/>
            <a:ext cx="502920" cy="502920"/>
          </a:xfrm>
          <a:prstGeom prst="ellipse">
            <a:avLst/>
          </a:prstGeom>
          <a:solidFill>
            <a:srgbClr val="14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41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B5B"/>
                </a:solidFill>
                <a:latin typeface="Microsoft YaHei"/>
              </a:defRPr>
            </a:pPr>
            <a:r>
              <a:t>产品线战略规划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43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抗病毒 . 祛痰止咳 . 龟鹿/猴耳环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200400"/>
            <a:ext cx="502920" cy="502920"/>
          </a:xfrm>
          <a:prstGeom prst="ellipse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2186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B5B"/>
                </a:solidFill>
                <a:latin typeface="Microsoft YaHei"/>
              </a:defRPr>
            </a:pPr>
            <a:r>
              <a:t>促销体系优化方案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520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阶梯赠品 . 精准促销 . 数字化闭环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977640"/>
            <a:ext cx="502920" cy="502920"/>
          </a:xfrm>
          <a:prstGeom prst="ellipse">
            <a:avLst/>
          </a:prstGeom>
          <a:solidFill>
            <a:srgbClr val="14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95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B5B"/>
                </a:solidFill>
                <a:latin typeface="Microsoft YaHei"/>
              </a:defRPr>
            </a:pPr>
            <a:r>
              <a:t>团队分工与考核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297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因人定岗 . 双向考核 . 破局激励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754880"/>
            <a:ext cx="502920" cy="502920"/>
          </a:xfrm>
          <a:prstGeom prst="ellipse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773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B5B"/>
                </a:solidFill>
                <a:latin typeface="Microsoft YaHei"/>
              </a:defRPr>
            </a:pPr>
            <a:r>
              <a:t>资源需求与行动计划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749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预算总览 . 月度里程碑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532120"/>
            <a:ext cx="502920" cy="502920"/>
          </a:xfrm>
          <a:prstGeom prst="ellipse">
            <a:avLst/>
          </a:prstGeom>
          <a:solidFill>
            <a:srgbClr val="14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550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B5B"/>
                </a:solidFill>
                <a:latin typeface="Microsoft YaHei"/>
              </a:defRPr>
            </a:pPr>
            <a:r>
              <a:t>预期成果与郑重承诺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852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关键指标预测 . 终结目标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一、市场现状与核心挑战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数据诊断（2025年 - 2026年4月）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2025年全年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2026年1-4月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问题诊断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499.13万/800万（62%）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263.92万/900万（29%）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指标完成率下滑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库存（一级+二级）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163.71万+44.17万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抗病毒88.47万龟鹿109.27万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高库存积压，占压资金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动销率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245.17万动销/263.92万开票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整体动销率93%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龟鹿动销&lt;开票，库存压力大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终端覆盖率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抗病毒1568家（4.22%）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抗病毒1441家（3.88%）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覆盖极低，大量空白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B5B"/>
                </a:solidFill>
                <a:latin typeface="Microsoft YaHei"/>
              </a:defRPr>
            </a:pPr>
            <a:r>
              <a:t>关键矛盾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26517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B5B"/>
                </a:solidFill>
                <a:latin typeface="Microsoft YaHei"/>
              </a:defRPr>
            </a:pPr>
            <a:r>
              <a:t>高指标 vs 低完成率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900万全年目标，5个月仅完成29%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572000"/>
            <a:ext cx="26517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B5B"/>
                </a:solidFill>
                <a:latin typeface="Microsoft YaHei"/>
              </a:defRPr>
            </a:pPr>
            <a:r>
              <a:t>高库存 vs 低动销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龟鹿库存109万，动销仅118万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26517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B5B"/>
                </a:solidFill>
                <a:latin typeface="Microsoft YaHei"/>
              </a:defRPr>
            </a:pPr>
            <a:r>
              <a:t>线上低价干扰控销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12支控销被10支低价冲击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4572000"/>
            <a:ext cx="26517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B5B"/>
                </a:solidFill>
                <a:latin typeface="Microsoft YaHei"/>
              </a:defRPr>
            </a:pPr>
            <a:r>
              <a:t>促销边际效果归零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10送1重复5次无新鲜感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一、市场现状与核心挑战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五大核心挑战与破局思路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94360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核心挑战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破局关键词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荣创联盟（原竞品代理商）合作停滞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借分歧 . 控线上 . 推组合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祛痰止咳颗粒近效期库存298件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短期消化 . 中期换规 . 长期决策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龟鹿补肾丸、猴耳环胶囊近空白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控销价值链+终端资源置换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10送1促销失效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差异化+数据驱动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团队能力错配、消极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因人定岗 . 目标+过程双考核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B5B"/>
                </a:solidFill>
                <a:latin typeface="Microsoft YaHei"/>
              </a:defRPr>
            </a:pPr>
            <a:r>
              <a:t>总体策略：三箭齐发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4632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3474720" cy="64008"/>
          </a:xfrm>
          <a:prstGeom prst="rect">
            <a:avLst/>
          </a:prstGeom>
          <a:solidFill>
            <a:srgbClr val="14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4DA0"/>
                </a:solidFill>
                <a:latin typeface="Microsoft YaHei"/>
              </a:defRPr>
            </a:pPr>
            <a:r>
              <a:t>存量盘活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抗病毒口服液+祛痰止咳颗粒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484632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4846320"/>
            <a:ext cx="3474720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增量突破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5532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龟鹿补肾丸+猴耳环消炎胶囊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8" y="484632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8" y="4846320"/>
            <a:ext cx="3474720" cy="6400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8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962E"/>
                </a:solidFill>
                <a:latin typeface="Microsoft YaHei"/>
              </a:defRPr>
            </a:pPr>
            <a:r>
              <a:t>组织赋能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5532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分工优化+激励升级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二、产品线战略规划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（一）抗病毒口服液破局 - 荣创联盟合作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03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B5B"/>
                </a:solidFill>
                <a:latin typeface="Microsoft YaHei"/>
              </a:defRPr>
            </a:pPr>
            <a:r>
              <a:t>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荣创连锁联盟（99家中小连锁，2万家门店）原为竞品省级代理商，年销超2000万元。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因促销费用拖欠产生分歧，年初开始经营我公司抗病毒12支（控销），半年无起色。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E74C3C"/>
                </a:solidFill>
                <a:latin typeface="Microsoft YaHei"/>
              </a:defRPr>
            </a:pPr>
            <a:r>
              <a:t>对方反馈：我公司10支线上零售价低，影响联盟连锁谈判。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822960" cy="320040"/>
          </a:xfrm>
          <a:prstGeom prst="round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B5B"/>
                </a:solidFill>
                <a:latin typeface="Microsoft YaHei"/>
              </a:defRPr>
            </a:pPr>
            <a:r>
              <a:t>价格隔离与规格区隔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签订控价协议，10支线上最低价提至与12支差价&lt;=15%；推出12支专供连锁包装+防窜货二维码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0896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246120"/>
            <a:ext cx="822960" cy="320040"/>
          </a:xfrm>
          <a:prstGeom prst="round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B5B"/>
                </a:solidFill>
                <a:latin typeface="Microsoft YaHei"/>
              </a:defRPr>
            </a:pPr>
            <a:r>
              <a:t>借势竞品矛盾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竞品转投专项支持：每店首推奖励200元+季度返利2%；联合荣创开展12支买5送1疗程装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66344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4800600"/>
            <a:ext cx="822960" cy="320040"/>
          </a:xfrm>
          <a:prstGeom prst="round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B5B"/>
                </a:solidFill>
                <a:latin typeface="Microsoft YaHei"/>
              </a:defRPr>
            </a:pPr>
            <a:r>
              <a:t>终端动销闭环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联盟内选100家核心门店做陈列+试饮+店员PK赛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5303520" cy="82296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Microsoft YaHei"/>
              </a:defRPr>
            </a:pPr>
            <a:r>
              <a:t>资源需求：控价协议法务支持 + 连锁专项费用20万元（上架费+促销费）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目标：荣创联盟年销破 250 万元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二、产品线战略规划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（二）祛痰止咳颗粒重生计划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B5B"/>
                </a:solidFill>
                <a:latin typeface="Microsoft YaHei"/>
              </a:defRPr>
            </a:pPr>
            <a:r>
              <a:t>现状分析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2025年前：20袋/年销2000件，覆盖8325家终端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2025年换规10gx10袋：发货700件，库存473件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E74C3C"/>
                </a:solidFill>
                <a:latin typeface="Microsoft YaHei"/>
              </a:defRPr>
            </a:pPr>
            <a:r>
              <a:t>不足一年效期：298件（高危！）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E74C3C"/>
                </a:solidFill>
                <a:latin typeface="Microsoft YaHei"/>
              </a:defRPr>
            </a:pPr>
            <a:r>
              <a:t>在售端点仅2116家（流失74%）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18288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18288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Microsoft YaHei"/>
              </a:defRPr>
            </a:pPr>
            <a:r>
              <a:t>短期0-3月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B5B"/>
                </a:solidFill>
                <a:latin typeface="Microsoft YaHei"/>
              </a:defRPr>
            </a:pPr>
            <a:r>
              <a:t>消化近效期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688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医院/基层：买10袋送10袋</a:t>
            </a:r>
            <a:br/>
            <a:r>
              <a:t>药店：加1元换购活动</a:t>
            </a:r>
            <a:br/>
            <a:r>
              <a:t>近效期优先发TOP500药店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18288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1828800" cy="64008"/>
          </a:xfrm>
          <a:prstGeom prst="rect">
            <a:avLst/>
          </a:prstGeom>
          <a:solidFill>
            <a:srgbClr val="14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4DA0"/>
                </a:solidFill>
                <a:latin typeface="Microsoft YaHei"/>
              </a:defRPr>
            </a:pPr>
            <a:r>
              <a:t>中期4-9月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B5B"/>
                </a:solidFill>
                <a:latin typeface="Microsoft YaHei"/>
              </a:defRPr>
            </a:pPr>
            <a:r>
              <a:t>重建信心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申请恢复20袋规格</a:t>
            </a:r>
            <a:br/>
            <a:r>
              <a:t>10袋降价10%为经济装</a:t>
            </a:r>
            <a:br/>
            <a:r>
              <a:t>筛选3000家高潜力点铺货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1554480"/>
            <a:ext cx="18288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41280" y="1554480"/>
            <a:ext cx="182880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长期10-12月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B5B"/>
                </a:solidFill>
                <a:latin typeface="Microsoft YaHei"/>
              </a:defRPr>
            </a:pPr>
            <a:r>
              <a:t>品类占位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4688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与抗病毒组成感冒咳嗽套餐</a:t>
            </a:r>
            <a:br/>
            <a:r>
              <a:t>关联陈列诊所+药店</a:t>
            </a:r>
            <a:br/>
            <a:r>
              <a:t>目标：年销1200件5000家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E6C8"/>
                </a:solidFill>
                <a:latin typeface="Microsoft YaHei"/>
              </a:defRPr>
            </a:pPr>
            <a:r>
              <a:t>目标：年销1200件    覆盖5000家终端    库存清零    重建品类地位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二、产品线战略规划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（三）龟鹿补肾丸+猴耳环胶囊 - 三级控销体系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B5B"/>
                </a:solidFill>
                <a:latin typeface="Microsoft YaHei"/>
              </a:defRPr>
            </a:pPr>
            <a:r>
              <a:t>经营方式：三级控销体系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5661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566160" cy="64008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B5B"/>
                </a:solidFill>
                <a:latin typeface="Microsoft YaHei"/>
              </a:defRPr>
            </a:pPr>
            <a:r>
              <a:t>省平台（我方）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制定价格、资源投放</a:t>
            </a:r>
            <a:br/>
            <a:r>
              <a:t>品牌推广、终端赋能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5661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566160" cy="64008"/>
          </a:xfrm>
          <a:prstGeom prst="rect">
            <a:avLst/>
          </a:prstGeom>
          <a:solidFill>
            <a:srgbClr val="14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4DA0"/>
                </a:solidFill>
                <a:latin typeface="Microsoft YaHei"/>
              </a:defRPr>
            </a:pPr>
            <a:r>
              <a:t>地级服务商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优选二级商业（华润、九州通）</a:t>
            </a:r>
            <a:br/>
            <a:r>
              <a:t>负责配送+维护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5661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3566160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  <a:latin typeface="Microsoft YaHei"/>
              </a:defRPr>
            </a:pPr>
            <a:r>
              <a:t>终端合伙人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连锁/诊所</a:t>
            </a:r>
            <a:br/>
            <a:r>
              <a:t>按销量返利，禁止窜货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B5B"/>
                </a:solidFill>
                <a:latin typeface="Microsoft YaHei"/>
              </a:defRPr>
            </a:pPr>
            <a:r>
              <a:t>价值链设计（龟鹿补肾丸5瓶装）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42976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环节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供价（元/盒）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毛利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零售价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出厂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地级服务商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终端（药店）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连锁总部返利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498079" y="1554480"/>
            <a:ext cx="4389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B5B"/>
                </a:solidFill>
                <a:latin typeface="Microsoft YaHei"/>
              </a:defRPr>
            </a:pPr>
            <a:r>
              <a:t>促销计划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0574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上架费：每个连锁5000元（50家核心）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店员首推奖励：5元/盒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消费者买龟鹿+猴耳环立减30元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广告费：3城市社区电梯广告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114800"/>
            <a:ext cx="4389120" cy="173736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206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2E"/>
                </a:solidFill>
                <a:latin typeface="Microsoft YaHei"/>
              </a:defRPr>
            </a:pPr>
            <a:r>
              <a:t>预算总计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5720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上架费：25万元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促销费（含赠品）：40万元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广告费：30万元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0B2B5B"/>
                </a:solidFill>
                <a:latin typeface="Microsoft YaHei"/>
              </a:defRPr>
            </a:pPr>
            <a:r>
              <a:t>合计：95万元  -&gt;  预期拉动年销500万元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三、促销体系优化方案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从10送1到促销2.0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B5B"/>
                </a:solidFill>
                <a:latin typeface="Microsoft YaHei"/>
              </a:defRPr>
            </a:pPr>
            <a:r>
              <a:t>促销失效原因分析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形式单一：10送1重复5次，终端无新鲜感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库存积压：商业为拿赠品压货，实际动销未提升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无数据分层：所有客户相同政策，高潜力客户无增量激励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6692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B5B"/>
                </a:solidFill>
                <a:latin typeface="Microsoft YaHei"/>
              </a:defRPr>
            </a:pPr>
            <a:r>
              <a:t>促销2.0 解决方案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194560"/>
            <a:ext cx="5120640" cy="1280160"/>
          </a:xfrm>
          <a:prstGeom prst="roundRect">
            <a:avLst/>
          </a:prstGeom>
          <a:solidFill>
            <a:srgbClr val="FA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B5B"/>
                </a:solidFill>
                <a:latin typeface="Microsoft YaHei"/>
              </a:defRPr>
            </a:pPr>
            <a:r>
              <a:t>方案1：阶梯赠品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首单10送1  -&gt;  累计满30送5（额外）  -&gt;  关联品种再享3%返利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657600"/>
            <a:ext cx="51206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749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B5B"/>
                </a:solidFill>
                <a:latin typeface="Microsoft YaHei"/>
              </a:defRPr>
            </a:pPr>
            <a:r>
              <a:t>方案2：精准促销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仅对动销率&gt;60%终端开放促销</a:t>
            </a:r>
            <a:br/>
            <a:r>
              <a:t>TOP100诊所开展病例分享会+订货送学术名额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5120640"/>
            <a:ext cx="5120640" cy="1280160"/>
          </a:xfrm>
          <a:prstGeom prst="roundRect">
            <a:avLst/>
          </a:prstGeom>
          <a:solidFill>
            <a:srgbClr val="FA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5212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B5B"/>
                </a:solidFill>
                <a:latin typeface="Microsoft YaHei"/>
              </a:defRPr>
            </a:pPr>
            <a:r>
              <a:t>方案3：数字化闭环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532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商业扫码出库监控实际动销</a:t>
            </a:r>
            <a:br/>
            <a:r>
              <a:t>促销资源向纯销排名前30%终端倾斜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四、团队分工与考核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因人定岗 . 精准施策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459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20040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成员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特点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分工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管理方式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老张（商务经理）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50岁，排斥终端</a:t>
                      </a:r>
                      <a:br/>
                      <a:r>
                        <a:t>擅长商务分销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一级商业谈判</a:t>
                      </a:r>
                      <a:br/>
                      <a:r>
                        <a:t>渠道压货、控价协议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不考核终端家数</a:t>
                      </a:r>
                      <a:br/>
                      <a:r>
                        <a:t>考核回款+库存周转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小李（终端主管）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实在、群众基础好</a:t>
                      </a:r>
                      <a:br/>
                      <a:r>
                        <a:t>主动能力欠缺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协访重点连锁/诊所</a:t>
                      </a:r>
                      <a:br/>
                      <a:r>
                        <a:t>执行公司促销活动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每日拜访计划</a:t>
                      </a:r>
                      <a:br/>
                      <a:r>
                        <a:t>周会照片+数据汇报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小陈（OTC代表）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能力强但消极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最难啃10家连锁开发</a:t>
                      </a:r>
                      <a:br/>
                      <a:r>
                        <a:t>季度连锁首推协议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高底薪+低提成</a:t>
                      </a:r>
                      <a:br/>
                      <a:r>
                        <a:t>破局奖：新开1家奖5000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小魏（OTC代表）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连锁开发能力强</a:t>
                      </a:r>
                      <a:br/>
                      <a:r>
                        <a:t>工作积极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所有连锁新开发</a:t>
                      </a:r>
                      <a:br/>
                      <a:r>
                        <a:t>店员培训、动销活动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提成+晋升通道</a:t>
                      </a:r>
                      <a:br/>
                      <a:r>
                        <a:t>达标可带徒弟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B5B"/>
                </a:solidFill>
                <a:latin typeface="Microsoft YaHei"/>
              </a:defRPr>
            </a:pPr>
            <a:r>
              <a:t>考核指标设计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66344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663440"/>
            <a:ext cx="2743200" cy="54864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B5B"/>
                </a:solidFill>
                <a:latin typeface="Microsoft YaHei"/>
              </a:defRPr>
            </a:pPr>
            <a:r>
              <a:t>老张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120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回款完成率40% | 渠道库存&lt;=1.5月30% | 商业满意度30%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66344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B5B"/>
                </a:solidFill>
                <a:latin typeface="Microsoft YaHei"/>
              </a:defRPr>
            </a:pPr>
            <a:r>
              <a:t>小李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120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活动执行数50% | 投诉率20% | 主动提报改进方案30%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66344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4663440"/>
            <a:ext cx="2743200" cy="54864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B5B"/>
                </a:solidFill>
                <a:latin typeface="Microsoft YaHei"/>
              </a:defRPr>
            </a:pPr>
            <a:r>
              <a:t>小陈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120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新开发连锁数60% | 协议完成率40%（不达标进PIP）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66344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4663440"/>
            <a:ext cx="2743200" cy="54864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B5B"/>
                </a:solidFill>
                <a:latin typeface="Microsoft YaHei"/>
              </a:defRPr>
            </a:pPr>
            <a:r>
              <a:t>小魏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120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连锁动销增长率50% | 店员培训场次30% | 创新方案20%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五、资源需求与行动计划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预算总览与月度里程碑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金额（万元）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抗病毒连锁专项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祛痰止咳近效期消化（赠品成本）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龟鹿+猴耳环控销切入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促销升级（数字化工具）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团队激励（破局奖）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0" y="164592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B5B"/>
                </a:solidFill>
                <a:latin typeface="Microsoft YaHei"/>
              </a:defRPr>
            </a:pPr>
            <a:r>
              <a:t>预算分布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389120"/>
            <a:ext cx="3200400" cy="256032"/>
          </a:xfrm>
          <a:prstGeom prst="rect">
            <a:avLst/>
          </a:prstGeom>
          <a:solidFill>
            <a:srgbClr val="14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389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抗病毒专项: 20万 (14%)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700016"/>
            <a:ext cx="68580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700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祛痰消化: 5万 (3%)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5010912"/>
            <a:ext cx="1531620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50109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龟鹿控销: 95万 (67%)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5321807"/>
            <a:ext cx="160020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3218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促销升级: 10万 (7%)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5632703"/>
            <a:ext cx="1600200" cy="2560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563270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团队激励: 10万 (7%)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B5B"/>
                </a:solidFill>
                <a:latin typeface="Microsoft YaHei"/>
              </a:defRPr>
            </a:pPr>
            <a:r>
              <a:t>月度行动计划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94560"/>
            <a:ext cx="3474720" cy="868680"/>
          </a:xfrm>
          <a:prstGeom prst="round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2194560"/>
            <a:ext cx="731520" cy="868680"/>
          </a:xfrm>
          <a:prstGeom prst="roundRect">
            <a:avLst/>
          </a:prstGeom>
          <a:solidFill>
            <a:srgbClr val="14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331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签订荣创协议；启动10支线上控价；近效期库存铺货TOP500药店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00400"/>
            <a:ext cx="3474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3200400"/>
            <a:ext cx="731520" cy="8686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7-8月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龟鹿+猴耳环上架100家核心连锁；开展店员PK赛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206240"/>
            <a:ext cx="3474720" cy="868680"/>
          </a:xfrm>
          <a:prstGeom prst="round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206240"/>
            <a:ext cx="731520" cy="86868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343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祛痰止咳20袋规格恢复试点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5212080"/>
            <a:ext cx="3474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5212080"/>
            <a:ext cx="731520" cy="8686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10-12月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349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冲刺900万指标；季度促销2.0全覆盖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六、预期成果与郑重承诺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6C8"/>
                </a:solidFill>
                <a:latin typeface="Microsoft YaHei"/>
              </a:defRPr>
            </a:pPr>
            <a:r>
              <a:t>关键指标预测（2026年底）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现状（12-4月）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目标（全年）</a:t>
                      </a:r>
                    </a:p>
                  </a:txBody>
                  <a:tcPr anchor="ctr">
                    <a:solidFill>
                      <a:srgbClr val="0B2B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总销售额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263.92万元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900万元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抗病毒口服液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84.71万元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250万元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祛痰止咳颗粒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1.92万元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120万元（库存清零）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龟鹿补肾丸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161.53万元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300万元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猴耳环系列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10.04万元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80万元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药店覆盖率（抗病毒）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3.88%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&gt;=8%</a:t>
                      </a:r>
                    </a:p>
                  </a:txBody>
                  <a:tcPr anchor="ctr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药店覆盖率（龟鹿）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4.58%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&gt;=10%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B5B"/>
                </a:solidFill>
                <a:latin typeface="Microsoft YaHei"/>
              </a:defRPr>
            </a:pPr>
            <a:r>
              <a:t>郑重承诺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6个月内消化全部近效期祛痰止咳颗粒库存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2026年12月前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年底前完成龟鹿+猴耳环在500家核心药店及100家诊所控销布局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2026年12月前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打造一支能打硬仗、不留死角的A省团队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持续建设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27432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结束语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2E"/>
                </a:solidFill>
                <a:latin typeface="Microsoft YaHei"/>
              </a:defRPr>
            </a:pPr>
            <a:r>
              <a:t>用控销重构价值，用数据驱动动销，用激励激活团队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请公司给我信任，我必还公司倍增！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E6C8"/>
                </a:solidFill>
                <a:latin typeface="Microsoft YaHei"/>
              </a:defRPr>
            </a:pPr>
            <a:r>
              <a:t>谢谢！  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0C8"/>
                </a:solidFill>
                <a:latin typeface="Microsoft YaHei"/>
              </a:defRPr>
            </a:pPr>
            <a:r>
              <a:t>A省市场规划及办事处主任竞聘报告  |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